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open by running a scanner live on a flawed repo and let a finding pop up in seconds — "this is how the industry finds bugs at scale." Today = the tools + the mindset of catching bugs early.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Flag the lab: scan a deliberately flawed repo, triage by CWE, then fix. Bonus: first team to crash a target with a fuzzer.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W1. W1 = think (design). W2 = automate (code). Remind the cost curve: a bug caught in CI costs ~1×, in production ~100×.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phases on the board; ask "where can security live?" (answer: every phase). Threat modeling = design; SAST/secret scan = code/commit; DAST = test; monitoring = operate. "Shift left" = move detection earlier.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map for the whole unit. Stress: no single tool finds everything — they see different things. Every READS/FINDS/BLIND-TO on this diagram is real output from this week's own vulnerable-repo, not a hypothetical — walk it left to right and land on "complements, not substitutes." Tie each to a later week (SCA → W12, DAST → Burp in W4-6).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comparison students confuse. Analogy: SAST = proofreading the recipe; DAST = tasting the cooked dish. SAST sees a hardcoded secret DAST never will; DAST sees an auth bypass SAST can't.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make-it-concrete slide — point at the exact lines each tool fires on. This is the `vulnerable-repo/app.py` they'll scan in the lab. Ask: "which tool finds the secret? which finds the SQLi? could one tool find both?"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make-it-concrete slide — point at the exact lines each tool fires on. This is the `vulnerable-repo/app.py` they'll scan in the lab. Ask: "which tool finds the secret? which finds the SQLi? could one tool find both?"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Fuzzing is the highest-yield bug finder in industry (most memory CVEs come from it). Explain coverage-guided = the fuzzer "learns" inputs that reach new code — each correct byte unlocks a new path, which is why it beats blind random guessing. The seed corpus matters (seeded finds it in ~1 second; unseeded has to rediscover 3 magic bytes on its own) — the exact "how much faster" isn't a number I have a verified source for, so don't state one; the mechanism is the teachable part. Deep dive + exploit comes in W11.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static companion to the fuzz-verdict sim, and the answer to 'why fuzz if we already ran SAST?' Walk it: SAST can't know the input will ever be exactly FUZ, so it stays silent (blue); the fuzzer doesn't brute-force randomly — coverage feedback rewards each new gate passed, so it climbs to FUZ and the unguarded data[3] read faults under ASan (orange). Land on: static reads, fuzzing runs — complements.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harness.c's exact logic, computed in the browser — not an animation of "how fuzzing feels." Make sure "FUZ" (3 bytes, overflow) and "FUZZ" (4 bytes, deliberate trap via __builtin_trap — a different crash class, no memory-safety bug at all) both get tried, since that distinction is easy to blur. Ties to worksheet Task 4.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Crucial professional skill: a scanner that cries wolf gets ignored. IMPORTANT — a real `bash scan.sh` run against this week's own vulnerable-repo returns 12 findings and all 12 are genuine true positives; there is no clean false-positive example in this specimen, so don't invent one live. The real triage skill THIS repo exercises is deduplication: 5 Semgrep rules fire on the identical SQLi line, 3 fire on the identical command-injection line — teach "same root cause, one row in your table" rather than promising a false positive you won't be able to produce on demand. Every finding still gets a CWE + a TP call + a one-line justification.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rule ID and line number here is copied from an actual scan.sh run, not invented. The point: "5 rules fired" is not "5 bugs" — recognizing the SAME root cause under two different rule names is the real-world triage skill, more useful than a TP/FP guess. Directly rehearses worksheet Task 3's triage table.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is the one they'll type today (Task 5, scanning the NoteVault target) — say so explicitly so "tools you'll meet" doesn't read as "tools this lab uses." SonarQube/GHAS are real-world awareness. Connect "technical debt" to the cost curve from the recap.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game before lab: speed + accuracy. Penalize wild guessing (misclassified subtracts) so they must justify each finding. Mirrors a real bug-bounty triage queue. Warn about the two gotchas up front: Gitleaks needs `--no-git` or it silently reports zero leaks; the repo root's own `.gitleaks.toml` deliberately allowlists this lab's secrets, so scan `vulnerable-repo/` specifically, not the repo root.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fun, instant feedback (it crashes or it doesn't). Sets up W11. If short on time, make this a demo.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graded output — six tasks, not three. The defend/fix task (25 pts, "Defense") is the single biggest score component and is easy to undersell if you only recap the triage table. Point to scan.sh.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graded output — six tasks, not three. The defend/fix task (25 pts, "Defense") is the single biggest score component and is easy to undersell if you only recap the triage table. Point to scan.sh.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3 lines. Cold-call: "name a bug SAST would miss but DAST would catch."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Cliffhanger: "Next week we break crypto — crack passwords and decrypt a secret in minutes." Remind: scanners ready in their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2</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Secure SDLC, Tooling &amp; Fuzzing</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Security across the SDLC ("shift left")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SAST · DAST · SCA · secret scanning · fuzzing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Triaging findings by CWE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Game: Bug Triage Race + a Fuzzing Race</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Recap — Week 1</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Threat modeling finds design flaws (before code)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This week: find implementation flaws — automatically, at scale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Same goal: catch it early, cheap to fix</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Security across the SDLC</a:t>
            </a:r>
            <a:endParaRPr lang="en-US" sz="2600" dirty="0"/>
          </a:p>
        </p:txBody>
      </p:sp>
      <p:sp>
        <p:nvSpPr>
          <p:cNvPr id="5" name="Text 2"/>
          <p:cNvSpPr/>
          <p:nvPr/>
        </p:nvSpPr>
        <p:spPr>
          <a:xfrm>
            <a:off x="548640" y="1325880"/>
            <a:ext cx="8046720" cy="54864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Requirements → Design → Code → Build → Test → Deploy → Operate</a:t>
            </a:r>
            <a:endParaRPr lang="en-US" sz="1400" dirty="0"/>
          </a:p>
        </p:txBody>
      </p:sp>
      <p:sp>
        <p:nvSpPr>
          <p:cNvPr id="6" name="Shape 3"/>
          <p:cNvSpPr/>
          <p:nvPr/>
        </p:nvSpPr>
        <p:spPr>
          <a:xfrm>
            <a:off x="457200" y="196596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7" name="Text 4"/>
          <p:cNvSpPr/>
          <p:nvPr/>
        </p:nvSpPr>
        <p:spPr>
          <a:xfrm>
            <a:off x="731520" y="207568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Each phase has security activities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Shift left: find issues early — cheaper to fix</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DevSecOps = security automated into the pipeline</a:t>
            </a:r>
            <a:endParaRPr lang="en-US" sz="1400" dirty="0"/>
          </a:p>
        </p:txBody>
      </p:sp>
      <p:sp>
        <p:nvSpPr>
          <p:cNvPr id="8" name="Text 5"/>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9"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tooling families</a:t>
            </a:r>
            <a:endParaRPr lang="en-US" sz="2600" dirty="0"/>
          </a:p>
        </p:txBody>
      </p:sp>
      <p:sp>
        <p:nvSpPr>
          <p:cNvPr id="5" name="Text 2"/>
          <p:cNvSpPr/>
          <p:nvPr/>
        </p:nvSpPr>
        <p:spPr>
          <a:xfrm>
            <a:off x="548640" y="1325880"/>
            <a:ext cx="8046720" cy="137160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A left-to-right software development pipeline with five stages: write code, commit, build, deploy, run. Four scanners are placed at the stage each one actually operates on, and under each is written what it cannot see, grounded in the actual CWEs found in this week's vulnerable-repo/app.py and harness.c.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SAST vs DAST in one line</a:t>
            </a:r>
            <a:endParaRPr lang="en-US" sz="2600" dirty="0"/>
          </a:p>
        </p:txBody>
      </p:sp>
      <p:sp>
        <p:nvSpPr>
          <p:cNvPr id="5" name="Shape 2"/>
          <p:cNvSpPr/>
          <p:nvPr/>
        </p:nvSpPr>
        <p:spPr>
          <a:xfrm>
            <a:off x="457200" y="1325880"/>
            <a:ext cx="8229600" cy="1097280"/>
          </a:xfrm>
          <a:prstGeom prst="roundRect">
            <a:avLst>
              <a:gd name="adj" fmla="val 6667"/>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87782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SAST — reads the code, finds bug patterns (no running). Many false positives.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DAST — attacks the live app from outside. Fewer FPs, misses source-level issues.</a:t>
            </a:r>
            <a:endParaRPr lang="en-US" sz="1400" dirty="0"/>
          </a:p>
        </p:txBody>
      </p:sp>
      <p:sp>
        <p:nvSpPr>
          <p:cNvPr id="7" name="Shape 4"/>
          <p:cNvSpPr/>
          <p:nvPr/>
        </p:nvSpPr>
        <p:spPr>
          <a:xfrm>
            <a:off x="457200" y="2587752"/>
            <a:ext cx="8229600" cy="822960"/>
          </a:xfrm>
          <a:prstGeom prst="roundRect">
            <a:avLst>
              <a:gd name="adj" fmla="val 8889"/>
            </a:avLst>
          </a:prstGeom>
          <a:solidFill>
            <a:srgbClr val="E8EDF3"/>
          </a:solidFill>
          <a:ln/>
        </p:spPr>
      </p:sp>
      <p:sp>
        <p:nvSpPr>
          <p:cNvPr id="8" name="Text 5"/>
          <p:cNvSpPr/>
          <p:nvPr/>
        </p:nvSpPr>
        <p:spPr>
          <a:xfrm>
            <a:off x="731520" y="2587752"/>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Use both — they find different things.</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Worked example: what each tool catches</a:t>
            </a:r>
            <a:endParaRPr lang="en-US" sz="2600" dirty="0"/>
          </a:p>
        </p:txBody>
      </p:sp>
      <p:sp>
        <p:nvSpPr>
          <p:cNvPr id="5" name="Shape 2"/>
          <p:cNvSpPr/>
          <p:nvPr/>
        </p:nvSpPr>
        <p:spPr>
          <a:xfrm>
            <a:off x="457200" y="1325880"/>
            <a:ext cx="8229600" cy="1591056"/>
          </a:xfrm>
          <a:prstGeom prst="roundRect">
            <a:avLst>
              <a:gd name="adj" fmla="val 3448"/>
            </a:avLst>
          </a:prstGeom>
          <a:solidFill>
            <a:srgbClr val="0A1020"/>
          </a:solidFill>
          <a:ln w="12700">
            <a:solidFill>
              <a:srgbClr val="E8EDF3"/>
            </a:solidFill>
            <a:prstDash val="solid"/>
          </a:ln>
        </p:spPr>
      </p:sp>
      <p:sp>
        <p:nvSpPr>
          <p:cNvPr id="6" name="Text 3"/>
          <p:cNvSpPr/>
          <p:nvPr/>
        </p:nvSpPr>
        <p:spPr>
          <a:xfrm>
            <a:off x="640080" y="1399032"/>
            <a:ext cx="7863840" cy="1444752"/>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@app.route("/user")</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def user():</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name = request.args.get("name")</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q = "SELECT * FROM users WHERE name='%s'" % name   # SAST → CWE-89</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return db.execute(q).fetchall()</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AWS_SECRET_ACCESS_KEY = "hK8pQ2mN5vX9wZ3rT6yU1sA4bC7dE0fG2hJ5kL8"  # Gitleaks → CWE-798</a:t>
            </a:r>
            <a:endParaRPr lang="en-US" sz="1150" dirty="0"/>
          </a:p>
        </p:txBody>
      </p:sp>
      <p:sp>
        <p:nvSpPr>
          <p:cNvPr id="7" name="Shape 4"/>
          <p:cNvSpPr/>
          <p:nvPr/>
        </p:nvSpPr>
        <p:spPr>
          <a:xfrm>
            <a:off x="457200" y="3081528"/>
            <a:ext cx="8229600" cy="1298448"/>
          </a:xfrm>
          <a:prstGeom prst="roundRect">
            <a:avLst>
              <a:gd name="adj" fmla="val 5634"/>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3191256"/>
            <a:ext cx="7680960" cy="107899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Semgrep (SAST): flags the string-built SQL query (CWE-89)</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Gitleaks (secret scan): flags the hardcoded key — must be a real-looking secret; the AWS-docs example key (wJalr...EXAMPLEKEY) is a known public string and won't fire any rule</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Worked example: what each tool catches (cont.)</a:t>
            </a:r>
            <a:endParaRPr lang="en-US" sz="2600" dirty="0"/>
          </a:p>
        </p:txBody>
      </p:sp>
      <p:sp>
        <p:nvSpPr>
          <p:cNvPr id="5" name="Shape 2"/>
          <p:cNvSpPr/>
          <p:nvPr/>
        </p:nvSpPr>
        <p:spPr>
          <a:xfrm>
            <a:off x="457200" y="1325880"/>
            <a:ext cx="8229600" cy="1097280"/>
          </a:xfrm>
          <a:prstGeom prst="roundRect">
            <a:avLst>
              <a:gd name="adj" fmla="val 6667"/>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87782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DAST/fuzzer: would catch a crash/SQLi by hitting /user, not reading it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Same file also plants command injection, a weak md5 hash, and debug=True — Task 1 grades all five</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Fuzzing — how real CVEs are found</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Feed random/mutated inputs, watch for crashes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Coverage-guided (libFuzzer/AFL++) explores new code paths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Pair with sanitizers (ASan) to pinpoint the bug</a:t>
            </a:r>
            <a:endParaRPr lang="en-US" sz="1400" dirty="0"/>
          </a:p>
        </p:txBody>
      </p:sp>
      <p:sp>
        <p:nvSpPr>
          <p:cNvPr id="7" name="Shape 4"/>
          <p:cNvSpPr/>
          <p:nvPr/>
        </p:nvSpPr>
        <p:spPr>
          <a:xfrm>
            <a:off x="457200" y="2697480"/>
            <a:ext cx="8229600" cy="932688"/>
          </a:xfrm>
          <a:prstGeom prst="roundRect">
            <a:avLst>
              <a:gd name="adj" fmla="val 5882"/>
            </a:avLst>
          </a:prstGeom>
          <a:solidFill>
            <a:srgbClr val="0A1020"/>
          </a:solidFill>
          <a:ln w="12700">
            <a:solidFill>
              <a:srgbClr val="E8EDF3"/>
            </a:solidFill>
            <a:prstDash val="solid"/>
          </a:ln>
        </p:spPr>
      </p:sp>
      <p:sp>
        <p:nvSpPr>
          <p:cNvPr id="8" name="Text 5"/>
          <p:cNvSpPr/>
          <p:nvPr/>
        </p:nvSpPr>
        <p:spPr>
          <a:xfrm>
            <a:off x="640080" y="2770632"/>
            <a:ext cx="7863840" cy="786384"/>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 run inside labs/toolbox — Apple clang has no libFuzzer runtime</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clang -g -fsanitize=address,fuzzer harness.c -o fuzz</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mkdir -p corpus &amp;&amp; printf 'FUZ' &gt; corpus/seed &amp;&amp; ./fuzz corpus</a:t>
            </a:r>
            <a:endParaRPr lang="en-US" sz="115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How fuzzing finds it</a:t>
            </a:r>
            <a:endParaRPr lang="en-US" sz="2600" dirty="0"/>
          </a:p>
        </p:txBody>
      </p:sp>
      <p:sp>
        <p:nvSpPr>
          <p:cNvPr id="5" name="Text 2"/>
          <p:cNvSpPr/>
          <p:nvPr/>
        </p:nvSpPr>
        <p:spPr>
          <a:xfrm>
            <a:off x="548640" y="1325880"/>
            <a:ext cx="8046720" cy="219456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A coverage-guided fuzzer reaches a bug a static analyzer misses: the harness has four nested byte checks (F, U, Z, Z) and the fourth reads data[3] with no size&gt;3 guard, so the input 'FUZ' reads one byte out of bounds. SAST reads the code and stays silent; the fuzzer mutates inputs and is rewarded for each new branch reached, climbing random -&gt; F -&gt; FU -&gt; FUZ until the unguarded read crashes under AddressSanitizer, which writes a reproducer file. SAST and fuzzing are complements, not substitutes.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Try it — what actually crashes this harness</a:t>
            </a:r>
            <a:endParaRPr lang="en-US" sz="2600" dirty="0"/>
          </a:p>
        </p:txBody>
      </p:sp>
      <p:sp>
        <p:nvSpPr>
          <p:cNvPr id="5" name="Text 2"/>
          <p:cNvSpPr/>
          <p:nvPr/>
        </p:nvSpPr>
        <p:spPr>
          <a:xfrm>
            <a:off x="548640" y="1325880"/>
            <a:ext cx="8046720" cy="82296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Type bytes, or pick a preset. Each cell is one if in the real source.</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/sim/fuzz-verdict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Triage: not every finding is a bug</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True positive vs false positive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Map each to a CWE + severity</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Prioritize by exploitability × impact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Noise kills trust in tools — triage well</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Try it — which bug is this, really?</a:t>
            </a:r>
            <a:endParaRPr lang="en-US" sz="2600" dirty="0"/>
          </a:p>
        </p:txBody>
      </p:sp>
      <p:sp>
        <p:nvSpPr>
          <p:cNvPr id="5" name="Text 2"/>
          <p:cNvSpPr/>
          <p:nvPr/>
        </p:nvSpPr>
        <p:spPr>
          <a:xfrm>
            <a:off x="548640" y="1325880"/>
            <a:ext cx="8046720" cy="82296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Seven raw findings from a real scan. Map each back to the one bug underneath.</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Try it live: /sim/triage-drill (interactive simulation,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Tools you'll meet</a:t>
            </a:r>
            <a:endParaRPr lang="en-US" sz="2600" dirty="0"/>
          </a:p>
        </p:txBody>
      </p:sp>
      <p:sp>
        <p:nvSpPr>
          <p:cNvPr id="5" name="Shape 2"/>
          <p:cNvSpPr/>
          <p:nvPr/>
        </p:nvSpPr>
        <p:spPr>
          <a:xfrm>
            <a:off x="457200" y="1325880"/>
            <a:ext cx="8229600" cy="1609344"/>
          </a:xfrm>
          <a:prstGeom prst="roundRect">
            <a:avLst>
              <a:gd name="adj" fmla="val 454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38988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Trivy — the SCA scanner you'll actually run this lab (dependency scan today; image + IaC scanning return in W12/13)</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SonarQube, GitHub Advanced Security (GHAS) — quality-gate/SAST-in-the-repo tools you'll see in industry/internships, not used in this lab</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Address technical debt early — cheaper than re-work later</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Game — Bug Triage Race</a:t>
            </a:r>
            <a:endParaRPr lang="en-US" sz="2600" dirty="0"/>
          </a:p>
        </p:txBody>
      </p:sp>
      <p:sp>
        <p:nvSpPr>
          <p:cNvPr id="5" name="Shape 2"/>
          <p:cNvSpPr/>
          <p:nvPr/>
        </p:nvSpPr>
        <p:spPr>
          <a:xfrm>
            <a:off x="457200" y="1325880"/>
            <a:ext cx="8229600" cy="896112"/>
          </a:xfrm>
          <a:prstGeom prst="roundRect">
            <a:avLst>
              <a:gd name="adj" fmla="val 8163"/>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676656"/>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Run Semgrep + Gitleaks on the flawed repo</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Score = true positives − misclassified · live scoreboard</a:t>
            </a:r>
            <a:endParaRPr lang="en-US" sz="1400" dirty="0"/>
          </a:p>
        </p:txBody>
      </p:sp>
      <p:sp>
        <p:nvSpPr>
          <p:cNvPr id="7" name="Shape 4"/>
          <p:cNvSpPr/>
          <p:nvPr/>
        </p:nvSpPr>
        <p:spPr>
          <a:xfrm>
            <a:off x="457200" y="2386584"/>
            <a:ext cx="8229600" cy="1152144"/>
          </a:xfrm>
          <a:prstGeom prst="roundRect">
            <a:avLst>
              <a:gd name="adj" fmla="val 4762"/>
            </a:avLst>
          </a:prstGeom>
          <a:solidFill>
            <a:srgbClr val="0A1020"/>
          </a:solidFill>
          <a:ln w="12700">
            <a:solidFill>
              <a:srgbClr val="E8EDF3"/>
            </a:solidFill>
            <a:prstDash val="solid"/>
          </a:ln>
        </p:spPr>
      </p:sp>
      <p:sp>
        <p:nvSpPr>
          <p:cNvPr id="8" name="Text 5"/>
          <p:cNvSpPr/>
          <p:nvPr/>
        </p:nvSpPr>
        <p:spPr>
          <a:xfrm>
            <a:off x="640080" y="2459736"/>
            <a:ext cx="7863840" cy="1005840"/>
          </a:xfrm>
          <a:prstGeom prst="rect">
            <a:avLst/>
          </a:prstGeom>
          <a:noFill/>
          <a:ln/>
        </p:spPr>
        <p:txBody>
          <a:bodyPr wrap="square" lIns="0" tIns="0" rIns="0" bIns="0" rtlCol="0" anchor="t">
            <a:normAutofit/>
          </a:bodyPr>
          <a:lstStyle/>
          <a:p>
            <a:pPr indent="0" marL="0">
              <a:buNone/>
            </a:pPr>
            <a:r>
              <a:rPr lang="en-US" sz="1150" dirty="0">
                <a:solidFill>
                  <a:srgbClr val="9FE7D6"/>
                </a:solidFill>
                <a:latin typeface="Courier New" pitchFamily="34" charset="0"/>
                <a:ea typeface="Courier New" pitchFamily="34" charset="-122"/>
                <a:cs typeface="Courier New" pitchFamily="34" charset="-120"/>
              </a:rPr>
              <a:t>docker run --rm -v "$PWD/vulnerable-repo:/src" semgrep/semgrep \</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semgrep --config p/default --config p/owasp-top-ten /src</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docker run --rm -v "$PWD/vulnerable-repo:/repo" zricethezav/gitleaks:latest \</a:t>
            </a:r>
            <a:endParaRPr lang="en-US" sz="1150" dirty="0"/>
          </a:p>
          <a:p>
            <a:pPr indent="0" marL="0">
              <a:buNone/>
            </a:pPr>
            <a:r>
              <a:rPr lang="en-US" sz="1150" dirty="0">
                <a:solidFill>
                  <a:srgbClr val="9FE7D6"/>
                </a:solidFill>
                <a:latin typeface="Courier New" pitchFamily="34" charset="0"/>
                <a:ea typeface="Courier New" pitchFamily="34" charset="-122"/>
                <a:cs typeface="Courier New" pitchFamily="34" charset="-120"/>
              </a:rPr>
              <a:t>  detect -s /repo -v --no-git</a:t>
            </a:r>
            <a:endParaRPr lang="en-US" sz="115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Mini-game — Fuzzing Race</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First team to make the provided target crash wins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One crash → one root-cause note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Full fuzz→exploit lab returns in Week 11</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2 — deliverable</a:t>
            </a:r>
            <a:endParaRPr lang="en-US" sz="2600" dirty="0"/>
          </a:p>
        </p:txBody>
      </p:sp>
      <p:sp>
        <p:nvSpPr>
          <p:cNvPr id="5" name="Shape 2"/>
          <p:cNvSpPr/>
          <p:nvPr/>
        </p:nvSpPr>
        <p:spPr>
          <a:xfrm>
            <a:off x="457200" y="1325880"/>
            <a:ext cx="8229600" cy="822960"/>
          </a:xfrm>
          <a:prstGeom prst="roundRect">
            <a:avLst>
              <a:gd name="adj" fmla="val 8889"/>
            </a:avLst>
          </a:prstGeom>
          <a:solidFill>
            <a:srgbClr val="E8EDF3"/>
          </a:solidFill>
          <a:ln/>
        </p:spPr>
      </p:sp>
      <p:sp>
        <p:nvSpPr>
          <p:cNvPr id="6" name="Text 3"/>
          <p:cNvSpPr/>
          <p:nvPr/>
        </p:nvSpPr>
        <p:spPr>
          <a:xfrm>
            <a:off x="731520" y="1325880"/>
            <a:ext cx="7680960" cy="822960"/>
          </a:xfrm>
          <a:prstGeom prst="rect">
            <a:avLst/>
          </a:prstGeom>
          <a:noFill/>
          <a:ln/>
        </p:spPr>
        <p:txBody>
          <a:bodyPr wrap="square" lIns="0" tIns="0" rIns="0" bIns="0" rtlCol="0" anchor="ctr">
            <a:normAutofit/>
          </a:bodyPr>
          <a:lstStyle/>
          <a:p>
            <a:pPr indent="0" marL="0">
              <a:buNone/>
            </a:pPr>
            <a:r>
              <a:rPr lang="en-US" sz="1400" i="1" dirty="0">
                <a:solidFill>
                  <a:srgbClr val="E35205"/>
                </a:solidFill>
                <a:latin typeface="Calibri" pitchFamily="34" charset="0"/>
                <a:ea typeface="Calibri" pitchFamily="34" charset="-122"/>
                <a:cs typeface="Calibri" pitchFamily="34" charset="-120"/>
              </a:rPr>
              <a:t>📋 Worksheet 2 — labs/week02-sdlc-tooling/worksheet.md (Part 3) · kickoff: bash scan.sh (Semgrep ×2 rulesets + Gitleaks --no-git on ./vulnerable-repo)</a:t>
            </a:r>
            <a:endParaRPr lang="en-US" sz="1400" dirty="0"/>
          </a:p>
        </p:txBody>
      </p:sp>
      <p:sp>
        <p:nvSpPr>
          <p:cNvPr id="7" name="Shape 4"/>
          <p:cNvSpPr/>
          <p:nvPr/>
        </p:nvSpPr>
        <p:spPr>
          <a:xfrm>
            <a:off x="457200" y="2313432"/>
            <a:ext cx="8229600" cy="2029968"/>
          </a:xfrm>
          <a:prstGeom prst="roundRect">
            <a:avLst>
              <a:gd name="adj" fmla="val 3604"/>
            </a:avLst>
          </a:prstGeom>
          <a:solidFill>
            <a:srgbClr val="F1F5F9"/>
          </a:solidFill>
          <a:ln/>
          <a:effectLst>
            <a:outerShdw sx="100000" sy="100000" kx="0" ky="0" algn="bl" rotWithShape="0" blurRad="76200" dist="25400" dir="5400000">
              <a:srgbClr val="000000">
                <a:alpha val="12000"/>
              </a:srgbClr>
            </a:outerShdw>
          </a:effectLst>
        </p:spPr>
      </p:sp>
      <p:sp>
        <p:nvSpPr>
          <p:cNvPr id="8" name="Text 5"/>
          <p:cNvSpPr/>
          <p:nvPr/>
        </p:nvSpPr>
        <p:spPr>
          <a:xfrm>
            <a:off x="731520" y="2423160"/>
            <a:ext cx="7680960" cy="181051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 findings triage table: tool, CWE, severity, TP/FP, fix idea (3 TP + 1 FP, justified)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1 fuzzing crash with a one-line root cause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Trivy SCA scan of the NoteVault project target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 security CI gate built from Week 15's security-ci.yml</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One SAST blind spot you found by hand</a:t>
            </a:r>
            <a:endParaRPr lang="en-US" sz="1400" dirty="0"/>
          </a:p>
        </p:txBody>
      </p:sp>
      <p:sp>
        <p:nvSpPr>
          <p:cNvPr id="9" name="Text 6"/>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10"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Lab 2 — deliverable (cont.)</a:t>
            </a:r>
            <a:endParaRPr lang="en-US" sz="2600" dirty="0"/>
          </a:p>
        </p:txBody>
      </p:sp>
      <p:sp>
        <p:nvSpPr>
          <p:cNvPr id="5" name="Shape 2"/>
          <p:cNvSpPr/>
          <p:nvPr/>
        </p:nvSpPr>
        <p:spPr>
          <a:xfrm>
            <a:off x="457200" y="1325880"/>
            <a:ext cx="8229600" cy="1097280"/>
          </a:xfrm>
          <a:prstGeom prst="roundRect">
            <a:avLst>
              <a:gd name="adj" fmla="val 6667"/>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877824"/>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Defend/fix: remediate all 5 planted flaws, before/after diff — this alone is 25 of 100 rubric points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Audit the AI and EiPE / Prompt Problem (see worksheet)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Key takeaways</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 single tool finds everything — layer SAST/DAST/SCA/fuzzing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Triage by CWE + severity; kill the noise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Fuzzing is the highest-yield bug finder — automate it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2</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Questions?</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Next week: Cryptography used correctly</a:t>
            </a:r>
            <a:endParaRPr lang="en-US" sz="1800" dirty="0"/>
          </a:p>
        </p:txBody>
      </p:sp>
      <p:pic>
        <p:nvPicPr>
          <p:cNvPr id="4"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2</dc:title>
  <dc:subject>PptxGenJS Presentation</dc:subject>
  <dc:creator>Nutthakorn Chalaemwongwan</dc:creator>
  <cp:lastModifiedBy>Nutthakorn Chalaemwongwan</cp:lastModifiedBy>
  <cp:revision>1</cp:revision>
  <dcterms:created xsi:type="dcterms:W3CDTF">2026-09-26T09:19:45Z</dcterms:created>
  <dcterms:modified xsi:type="dcterms:W3CDTF">2026-09-26T09:19:45Z</dcterms:modified>
</cp:coreProperties>
</file>